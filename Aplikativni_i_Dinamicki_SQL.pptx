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22"/>
  </p:handoutMasterIdLst>
  <p:sldIdLst>
    <p:sldId id="258" r:id="rId4"/>
    <p:sldId id="289" r:id="rId6"/>
    <p:sldId id="294" r:id="rId7"/>
    <p:sldId id="259" r:id="rId8"/>
    <p:sldId id="290" r:id="rId9"/>
    <p:sldId id="291" r:id="rId10"/>
    <p:sldId id="292" r:id="rId11"/>
    <p:sldId id="293" r:id="rId12"/>
    <p:sldId id="276" r:id="rId13"/>
    <p:sldId id="272" r:id="rId14"/>
    <p:sldId id="295" r:id="rId15"/>
    <p:sldId id="296" r:id="rId16"/>
    <p:sldId id="298" r:id="rId17"/>
    <p:sldId id="275" r:id="rId18"/>
    <p:sldId id="297" r:id="rId19"/>
    <p:sldId id="300" r:id="rId20"/>
    <p:sldId id="265" r:id="rId21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A3B"/>
    <a:srgbClr val="353F4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597"/>
    <p:restoredTop sz="94619"/>
  </p:normalViewPr>
  <p:slideViewPr>
    <p:cSldViewPr snapToGrid="0" showGuides="1">
      <p:cViewPr>
        <p:scale>
          <a:sx n="100" d="100"/>
          <a:sy n="100" d="100"/>
        </p:scale>
        <p:origin x="768" y="636"/>
      </p:cViewPr>
      <p:guideLst>
        <p:guide orient="horz" pos="216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C9B17E-EBA4-4BA6-BFBF-CFC4EA0BE6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146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2290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Click to edit Master text style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Second level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Third level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Fourth level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Fifth level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Click to edit Master text style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Second level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Third level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Fourth level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Fifth level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文本框 6"/>
          <p:cNvSpPr txBox="1"/>
          <p:nvPr/>
        </p:nvSpPr>
        <p:spPr>
          <a:xfrm>
            <a:off x="727710" y="814705"/>
            <a:ext cx="11062335" cy="2213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sz="7200" b="1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Aplikativni</a:t>
            </a:r>
            <a:r>
              <a:rPr lang="en-US" sz="7200" b="1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i </a:t>
            </a:r>
            <a:r>
              <a:rPr sz="7200" b="1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Dinamički SQL</a:t>
            </a:r>
            <a:endParaRPr sz="7200" b="1">
              <a:ln w="15875"/>
              <a:gradFill>
                <a:gsLst>
                  <a:gs pos="0">
                    <a:schemeClr val="accent1">
                      <a:lumOff val="-19991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1"/>
                    </a:schemeClr>
                  </a:gs>
                </a:gsLst>
                <a:lin ang="0" scaled="0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7200" b="1" dirty="0">
              <a:ln w="15875"/>
              <a:gradFill>
                <a:gsLst>
                  <a:gs pos="0">
                    <a:schemeClr val="accent1">
                      <a:lumOff val="-19991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1"/>
                    </a:schemeClr>
                  </a:gs>
                </a:gsLst>
                <a:lin ang="0" scaled="0"/>
              </a:gradFill>
              <a:effectLst/>
              <a:latin typeface="Times New Roman" panose="02020603050405020304" charset="0"/>
              <a:ea typeface="等线" pitchFamily="2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5123" name="组合 7"/>
          <p:cNvGrpSpPr/>
          <p:nvPr/>
        </p:nvGrpSpPr>
        <p:grpSpPr>
          <a:xfrm>
            <a:off x="0" y="6046470"/>
            <a:ext cx="12261850" cy="811530"/>
            <a:chOff x="7765142" y="3748447"/>
            <a:chExt cx="1676630" cy="487720"/>
          </a:xfrm>
        </p:grpSpPr>
        <p:sp>
          <p:nvSpPr>
            <p:cNvPr id="9" name="圆角矩形 8"/>
            <p:cNvSpPr/>
            <p:nvPr/>
          </p:nvSpPr>
          <p:spPr>
            <a:xfrm>
              <a:off x="7765142" y="3748447"/>
              <a:ext cx="1676630" cy="487720"/>
            </a:xfrm>
            <a:prstGeom prst="roundRect">
              <a:avLst/>
            </a:prstGeom>
            <a:solidFill>
              <a:srgbClr val="99C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5125" name="矩形 9"/>
            <p:cNvSpPr/>
            <p:nvPr/>
          </p:nvSpPr>
          <p:spPr>
            <a:xfrm>
              <a:off x="7765142" y="3891030"/>
              <a:ext cx="1624360" cy="574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noAutofit/>
            </a:bodyPr>
            <a:p>
              <a:pPr algn="ctr"/>
              <a:endParaRPr lang="zh-CN" alt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5126" name="文本框 10"/>
          <p:cNvSpPr txBox="1"/>
          <p:nvPr/>
        </p:nvSpPr>
        <p:spPr>
          <a:xfrm>
            <a:off x="313690" y="3402965"/>
            <a:ext cx="7332345" cy="264350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  <a:scene3d>
              <a:camera prst="orthographicFront"/>
              <a:lightRig rig="threePt" dir="t"/>
            </a:scene3d>
          </a:bodyPr>
          <a:p>
            <a:pPr algn="l"/>
            <a:r>
              <a:rPr sz="28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Predmetni profesor: Biljana Radulov</a:t>
            </a:r>
            <a:endParaRPr sz="28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sz="28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Predmet: </a:t>
            </a:r>
            <a:r>
              <a:rPr lang="en-US" sz="28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Arhitektura i racunarstvo</a:t>
            </a:r>
            <a:endParaRPr lang="en-US" sz="28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sz="28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Autor: Tomić Vasilije IT 27/22</a:t>
            </a:r>
            <a:endParaRPr sz="28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dist"/>
            <a:endParaRPr lang="zh-CN" altLang="en-US" sz="2800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Times New Roman" panose="02020603050405020304" charset="0"/>
              <a:ea typeface="Arial" panose="020B0604020202020204" pitchFamily="34" charset="0"/>
              <a:cs typeface="Times New Roman" panose="02020603050405020304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9465945" y="3306763"/>
            <a:ext cx="1089025" cy="1087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1234420" y="215265"/>
            <a:ext cx="411163" cy="409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931968" y="814388"/>
            <a:ext cx="258763" cy="2587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</a:t>
            </a:r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SQL (Structured Query Language) je standardni jezik za rad sa relacionim bazama podataka. </a:t>
            </a:r>
            <a:endParaRPr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-O</a:t>
            </a:r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mogućava definisanje strukture, manipulaciju i kontrolu pristupa podacima. </a:t>
            </a:r>
            <a:endParaRPr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</a:t>
            </a:r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Koristi se u gotovo svim informacionim sistemima današnjice.</a:t>
            </a:r>
            <a:endParaRPr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SQL je most između aplikacija i baze podataka – svaki unos, pretraga i izmena koristi SQL komande u pozadini</a:t>
            </a:r>
            <a:endParaRPr 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0" y="481965"/>
            <a:ext cx="435610" cy="2222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17855" y="259080"/>
            <a:ext cx="7990205" cy="795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u="sng"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UVOD U SQL</a:t>
            </a:r>
            <a:endParaRPr lang="en-US" sz="3200" b="1" u="sng"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38200" y="124206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Sta je to SQL?</a:t>
            </a:r>
            <a:endParaRPr 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ight Triangle 9"/>
          <p:cNvSpPr/>
          <p:nvPr/>
        </p:nvSpPr>
        <p:spPr>
          <a:xfrm>
            <a:off x="0" y="5661025"/>
            <a:ext cx="1303020" cy="1171575"/>
          </a:xfrm>
          <a:prstGeom prst="rt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Straight Connector 5"/>
          <p:cNvCxnSpPr/>
          <p:nvPr/>
        </p:nvCxnSpPr>
        <p:spPr>
          <a:xfrm flipH="1" flipV="1">
            <a:off x="3346450" y="2353945"/>
            <a:ext cx="4895850" cy="6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ectangles 6"/>
          <p:cNvSpPr/>
          <p:nvPr/>
        </p:nvSpPr>
        <p:spPr>
          <a:xfrm>
            <a:off x="-20320" y="-25400"/>
            <a:ext cx="12272645" cy="10902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itle 7"/>
          <p:cNvSpPr/>
          <p:nvPr>
            <p:ph type="title"/>
          </p:nvPr>
        </p:nvSpPr>
        <p:spPr>
          <a:xfrm>
            <a:off x="838200" y="0"/>
            <a:ext cx="11413490" cy="1325880"/>
          </a:xfrm>
        </p:spPr>
        <p:txBody>
          <a:bodyPr/>
          <a:p>
            <a:r>
              <a:rPr b="1" u="sng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Ilustracija: komunikacija aplikacije i baze</a:t>
            </a:r>
            <a:endParaRPr lang="en-US" b="1" u="sng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80795" y="1225550"/>
            <a:ext cx="10073005" cy="112839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Dijagram prikazuje kako aplikacija šalje SQL upite bazi podataka preko drajvera i konekcije.</a:t>
            </a:r>
            <a:endParaRPr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2780" y="2762250"/>
            <a:ext cx="5202555" cy="3399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26795" y="393700"/>
            <a:ext cx="678243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3200" b="1" u="sng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U</a:t>
            </a:r>
            <a:r>
              <a:rPr lang="en-US" sz="3200" b="1" u="sng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LOGA SQL-A U APLIKACIJAMA</a:t>
            </a:r>
            <a:endParaRPr lang="en-US" sz="3200" b="1" u="sng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26795" y="1282700"/>
            <a:ext cx="8382000" cy="3251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Savremene aplikacije koriste SQL za komunikaciju sa bazama podataka. </a:t>
            </a:r>
            <a:endParaRPr sz="2400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Postoje dva osnovna načina upotrebe:</a:t>
            </a:r>
            <a:endParaRPr sz="2400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sz="2400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a)</a:t>
            </a:r>
            <a:r>
              <a:rPr lang="en-US" sz="2400" u="sng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APLIKATIVNI</a:t>
            </a:r>
            <a:r>
              <a:rPr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(statički) </a:t>
            </a:r>
            <a:r>
              <a:rPr 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Aplikativni SQL se često koristi u poslovnim aplikacijama gde su upiti poznati unapred i ne menjaju se tokom rada.</a:t>
            </a:r>
            <a:endParaRPr sz="2400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0" indent="0">
              <a:buNone/>
            </a:pPr>
            <a:endParaRPr sz="2400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b)</a:t>
            </a:r>
            <a:r>
              <a:rPr lang="en-US" sz="2400" u="sng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DINAMICKI SQL-</a:t>
            </a:r>
            <a:r>
              <a:rPr sz="24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Dinamički SQL omogućava korisnicima fleksibilnost da sami oblikuju upite, naročito u analitičkim alatima.</a:t>
            </a:r>
            <a:endParaRPr sz="240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sz="2400" b="1" u="sng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02235"/>
            <a:ext cx="10515600" cy="1325563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b="1" u="sng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Š</a:t>
            </a:r>
            <a:r>
              <a:rPr lang="en-US" b="1" u="sng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TA JE APLIKATIVNI </a:t>
            </a:r>
            <a:r>
              <a:rPr b="1" u="sng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 SQL</a:t>
            </a:r>
            <a:r>
              <a:rPr lang="en-US" b="1" u="sng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?</a:t>
            </a:r>
            <a:endParaRPr lang="en-US" b="1" u="sng">
              <a:ln w="15875"/>
              <a:gradFill>
                <a:gsLst>
                  <a:gs pos="0">
                    <a:schemeClr val="accent1">
                      <a:lumOff val="-19991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1"/>
                    </a:schemeClr>
                  </a:gs>
                </a:gsLst>
                <a:lin ang="0" scaled="0"/>
              </a:gradFill>
              <a:effectLst/>
              <a:sym typeface="+mn-ea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</a:t>
            </a:r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Aplikativni SQL označava SQL naredbe koje su ugrađene direktno u kod aplikacije. </a:t>
            </a:r>
            <a:endParaRPr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</a:t>
            </a:r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Ovi upiti su poznati unapred, ne menjaju se tokom izvršavanja i obično koriste parametre.</a:t>
            </a:r>
            <a:r>
              <a:rPr>
                <a:sym typeface="+mn-ea"/>
              </a:rPr>
              <a:t> </a:t>
            </a:r>
            <a:endParaRPr>
              <a:sym typeface="+mn-ea"/>
            </a:endParaRPr>
          </a:p>
          <a:p>
            <a:r>
              <a:rPr>
                <a:solidFill>
                  <a:srgbClr val="FF0000"/>
                </a:solidFill>
                <a:sym typeface="+mn-ea"/>
              </a:rPr>
              <a:t>SELECT * FROM Korisnici WHERE ID = @id</a:t>
            </a:r>
            <a:endParaRPr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6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Right Triangle 6"/>
          <p:cNvSpPr/>
          <p:nvPr/>
        </p:nvSpPr>
        <p:spPr>
          <a:xfrm>
            <a:off x="0" y="4994275"/>
            <a:ext cx="1928495" cy="1848485"/>
          </a:xfrm>
          <a:prstGeom prst="rt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任意多边形 3"/>
          <p:cNvSpPr/>
          <p:nvPr/>
        </p:nvSpPr>
        <p:spPr>
          <a:xfrm rot="2220000" flipH="1">
            <a:off x="10407015" y="368585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4925695" cy="4740275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Programer u kodu defini</a:t>
            </a:r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še SQL naredbe i parametre. Ovi upiti se šalju bazi putem konekcije i izvršavaju se bez izmene same strukture. Prednosti su sigurnost i jednostavnost</a:t>
            </a:r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održavanja.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Aplikativni SQL omogu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ć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ava lak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š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u kontrolu pristupa i lak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š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e testiranje aplikacije.</a:t>
            </a:r>
            <a:endParaRPr lang="en-US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Ovakav pristup 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č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esto koristi tzv. prepared statements — unapred pripremljene SQL naredbe koje se izvr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š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avaju vi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š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e puta sa razli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č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itim parametrima</a:t>
            </a:r>
            <a:endParaRPr lang="en-US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949315" y="1762125"/>
            <a:ext cx="10160" cy="35858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ectangles 6"/>
          <p:cNvSpPr/>
          <p:nvPr/>
        </p:nvSpPr>
        <p:spPr>
          <a:xfrm>
            <a:off x="-20320" y="-25400"/>
            <a:ext cx="12272645" cy="10902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itle 7"/>
          <p:cNvSpPr/>
          <p:nvPr>
            <p:ph type="title"/>
          </p:nvPr>
        </p:nvSpPr>
        <p:spPr>
          <a:xfrm>
            <a:off x="393700" y="0"/>
            <a:ext cx="10960100" cy="1325880"/>
          </a:xfrm>
        </p:spPr>
        <p:txBody>
          <a:bodyPr/>
          <a:p>
            <a:r>
              <a:rPr lang="en-US" b="1" i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KAKO FUNKCIONISE APLIKATIVNI SQL</a:t>
            </a:r>
            <a:endParaRPr lang="en-US" b="1" i="1" u="sng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8895" y="1325880"/>
            <a:ext cx="5269865" cy="4938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4869180" cy="4351655"/>
          </a:xfrm>
        </p:spPr>
        <p:txBody>
          <a:bodyPr/>
          <a:p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Dinamički SQL omogućava kreiranje i izvršavanje SQL naredbi u toku rada programa. Upiti se grade kao tekstualni stringovi na osnovu korisničkog unosa ili uslova. Ovaj pristup nudi fleksibilnost, ali može biti opasan ako se ne koristi pažljivo.</a:t>
            </a:r>
            <a:endParaRPr sz="2400"/>
          </a:p>
          <a:p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949315" y="1762125"/>
            <a:ext cx="10160" cy="35858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ectangles 6"/>
          <p:cNvSpPr/>
          <p:nvPr/>
        </p:nvSpPr>
        <p:spPr>
          <a:xfrm>
            <a:off x="-20320" y="-25400"/>
            <a:ext cx="12272645" cy="10902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itle 7"/>
          <p:cNvSpPr/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b="1" u="sng">
                <a:sym typeface="+mn-ea"/>
              </a:rPr>
              <a:t>Šta je dinamički SQL</a:t>
            </a:r>
            <a:r>
              <a:rPr lang="en-US" b="1" u="sng">
                <a:sym typeface="+mn-ea"/>
              </a:rPr>
              <a:t>?</a:t>
            </a:r>
            <a:endParaRPr lang="en-US" b="1" u="sng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4925" y="1325880"/>
            <a:ext cx="5341620" cy="5173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3968115"/>
          </a:xfrm>
        </p:spPr>
        <p:txBody>
          <a:bodyPr/>
          <a:p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Primer u C# jeziku:</a:t>
            </a:r>
            <a:endParaRPr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r>
              <a:rPr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string query =</a:t>
            </a:r>
            <a:r>
              <a:rPr sz="2400">
                <a:solidFill>
                  <a:srgbClr val="FF0000"/>
                </a:solidFill>
                <a:sym typeface="+mn-ea"/>
              </a:rPr>
              <a:t> "SELECT * FROM Korisnici WHERE Ime = '" + ime + "'";</a:t>
            </a:r>
            <a:endParaRPr sz="2400">
              <a:solidFill>
                <a:srgbClr val="FF0000"/>
              </a:solidFill>
              <a:sym typeface="+mn-ea"/>
            </a:endParaRPr>
          </a:p>
          <a:p>
            <a:r>
              <a:rPr sz="2400">
                <a:solidFill>
                  <a:srgbClr val="FF0000"/>
                </a:solidFill>
                <a:sym typeface="+mn-ea"/>
              </a:rPr>
              <a:t>SqlCommand cmd = new SqlCommand(query, conn);</a:t>
            </a:r>
            <a:endParaRPr sz="2400">
              <a:solidFill>
                <a:srgbClr val="FF0000"/>
              </a:solidFill>
              <a:sym typeface="+mn-ea"/>
            </a:endParaRPr>
          </a:p>
          <a:p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Ovakav pristup može biti rizičan jer omogućava umetanje neovlašćenog SQL koda.</a:t>
            </a:r>
            <a:endParaRPr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 flipV="1">
            <a:off x="777240" y="1251585"/>
            <a:ext cx="9616440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itle 7"/>
          <p:cNvSpPr/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Izvršavanje dinamičkog SQL-a</a:t>
            </a:r>
            <a:endParaRPr lang="en-US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5835" y="4015105"/>
            <a:ext cx="107321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Dinamički SQL se koristi kada korisnik može sam birati kolone, tabele ili uslove.</a:t>
            </a:r>
            <a:endParaRPr lang="en-US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Primeri:</a:t>
            </a:r>
            <a:endParaRPr lang="en-US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* FROM Korisnici WHERE Grad = 'Beograd'</a:t>
            </a:r>
            <a:endParaRPr lang="en-US" altLang="en-US"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Ime, Prezime FROM Zaposleni WHERE Plata &gt; 80000</a:t>
            </a:r>
            <a:endParaRPr lang="en-US" altLang="en-US"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COUNT(*) FROM Porudzbine WHERE Datum BETWEEN '2024-01-01' AND '2024-12-31'</a:t>
            </a:r>
            <a:endParaRPr lang="en-US" altLang="en-US" sz="2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文本框 128"/>
          <p:cNvSpPr txBox="1"/>
          <p:nvPr/>
        </p:nvSpPr>
        <p:spPr>
          <a:xfrm>
            <a:off x="173355" y="46990"/>
            <a:ext cx="11003280" cy="591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  <a:scene3d>
              <a:camera prst="orthographicFront"/>
              <a:lightRig rig="threePt" dir="t"/>
            </a:scene3d>
          </a:bodyPr>
          <a:p>
            <a:r>
              <a:rPr sz="3600" b="1" u="sng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Bezbednosni rizici – SQL Injection</a:t>
            </a:r>
            <a:endParaRPr sz="3600" b="1" u="sng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3600" b="1" u="sng" dirty="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Times New Roman" panose="02020603050405020304" charset="0"/>
              <a:ea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285750"/>
            <a:ext cx="123825" cy="35242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1615" y="1014730"/>
            <a:ext cx="11323320" cy="37846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SQL Injection nastaj</a:t>
            </a:r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 kada korisnik unese zlonameran sql koji se izvrsava u bazi.</a:t>
            </a:r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SQL injection kod aplikativnog sql:</a:t>
            </a:r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-Kod aplikativnog bezbednost je veca jer su upiti pripremljeni unapred pa je kod njega i veca bezbednost.Kod aplokativnog sql injection je moguc samo ako korisnik unese pogresne parametre.</a:t>
            </a:r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SQL injection kod dinamickog sql:</a:t>
            </a:r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-Dinamicki sql bezbednost je manja i rizik veci jer se upit gradi kao string.Zbog ovog razloga dinamicki sql se mora zastititi Validacijom,parametrima i escape procedurama.</a:t>
            </a:r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文本框 128"/>
          <p:cNvSpPr txBox="1"/>
          <p:nvPr/>
        </p:nvSpPr>
        <p:spPr>
          <a:xfrm>
            <a:off x="956945" y="186055"/>
            <a:ext cx="11235055" cy="7772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r>
              <a:rPr lang="en-US" altLang="zh-CN" sz="3600" b="1" u="sng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SQL INJECTION SCENARIO</a:t>
            </a:r>
            <a:endParaRPr lang="en-US" altLang="zh-CN" sz="3600" b="1" u="sng" dirty="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285750"/>
            <a:ext cx="123825" cy="352425"/>
          </a:xfrm>
          <a:prstGeom prst="rect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65810" y="963295"/>
            <a:ext cx="11144885" cy="7372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Prikaz situacije gde nefiltrirani unos omogućava napadaču da izmeni SQL naredbu</a:t>
            </a:r>
            <a:r>
              <a: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.</a:t>
            </a:r>
            <a:endParaRPr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endParaRPr 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890" y="1700530"/>
            <a:ext cx="5482590" cy="35877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149090" y="2783840"/>
            <a:ext cx="2489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‘OR ‘1’=’1</a:t>
            </a:r>
            <a:endParaRPr 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0530" y="1673860"/>
            <a:ext cx="5276850" cy="439928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ORM (Object-Relational Mapping) omogućava rad sa bazom pomoću objekata, bez direktnog SQL koda.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Programer pi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š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 C#/Java/Python kod, a ORM automatski generi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š</a:t>
            </a:r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 SQL.</a:t>
            </a:r>
            <a:endParaRPr lang="en-US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Kod aplikativnog sql ORM obicno generise  staticke,parametrizovane upite.</a:t>
            </a:r>
            <a:endParaRPr lang="en-US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r>
              <a:rPr lang="en-US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Kod dinamickog sql obezbedjuje prednost dinamike,ali sa bezbednoscu aplikativnog sql.</a:t>
            </a:r>
            <a:endParaRPr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endParaRPr 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939155" y="1825625"/>
            <a:ext cx="10160" cy="35858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ectangles 6"/>
          <p:cNvSpPr/>
          <p:nvPr/>
        </p:nvSpPr>
        <p:spPr>
          <a:xfrm>
            <a:off x="-20320" y="388620"/>
            <a:ext cx="859155" cy="2222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itle 7"/>
          <p:cNvSpPr/>
          <p:nvPr>
            <p:ph type="title"/>
          </p:nvPr>
        </p:nvSpPr>
        <p:spPr>
          <a:xfrm>
            <a:off x="838835" y="0"/>
            <a:ext cx="10515600" cy="1325563"/>
          </a:xfrm>
        </p:spPr>
        <p:txBody>
          <a:bodyPr/>
          <a:p>
            <a:r>
              <a:rPr b="1" u="sng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sym typeface="+mn-ea"/>
              </a:rPr>
              <a:t>ORM (Object-Relational Mapping)</a:t>
            </a:r>
            <a:endParaRPr lang="en-US" b="1" u="sng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090" y="1673225"/>
            <a:ext cx="5608320" cy="3986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26795" y="393700"/>
            <a:ext cx="678243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3200" b="1" u="sng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Primena u realnim sistemima</a:t>
            </a:r>
            <a:endParaRPr lang="en-US" sz="3200" b="1" u="sng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785" y="1311275"/>
            <a:ext cx="7900670" cy="4606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26795" y="175895"/>
            <a:ext cx="678243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3200" b="1" u="sng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“Automatizacija SQL-A”</a:t>
            </a:r>
            <a:endParaRPr lang="en-US" sz="3200" b="1" u="sng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26795" y="1282700"/>
            <a:ext cx="8382000" cy="3251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-Aplikativni sql moze automatski da optimizuje upite koji se cesto ponavljaju.Dinamicki sql svaki put kreira novi plan izvrsavanja.</a:t>
            </a:r>
            <a:endParaRPr lang="en-US" altLang="en-US" sz="2400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en-US" sz="2400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-Aplikativni SQL ima stabilnu performansu, dok dinami</a:t>
            </a:r>
            <a:r>
              <a:rPr lang="en-US" alt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č</a:t>
            </a:r>
            <a:r>
              <a:rPr lang="en-US" alt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ki SQL mo</a:t>
            </a:r>
            <a:r>
              <a:rPr lang="en-US" alt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ž</a:t>
            </a:r>
            <a:r>
              <a:rPr lang="en-US" alt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e biti optimizovan automatski, ali zahteva dodatnu pa</a:t>
            </a:r>
            <a:r>
              <a:rPr lang="en-US" alt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ž</a:t>
            </a:r>
            <a:r>
              <a:rPr lang="en-US" altLang="en-US" sz="2400">
                <a:ln w="15875"/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nju oko dizajna i indeksa.</a:t>
            </a:r>
            <a:endParaRPr lang="en-US" altLang="en-US" sz="2400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604645" y="467995"/>
            <a:ext cx="9688830" cy="81153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Razlike između aplikativnog i dinamičkog SQL-a</a:t>
            </a:r>
            <a:endParaRPr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13" name="Table 12"/>
          <p:cNvGraphicFramePr/>
          <p:nvPr>
            <p:custDataLst>
              <p:tags r:id="rId1"/>
            </p:custDataLst>
          </p:nvPr>
        </p:nvGraphicFramePr>
        <p:xfrm>
          <a:off x="1108710" y="1099185"/>
          <a:ext cx="10096500" cy="5184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5500"/>
                <a:gridCol w="3365500"/>
                <a:gridCol w="3365500"/>
              </a:tblGrid>
              <a:tr h="58039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Aplikativni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Dinamicki</a:t>
                      </a:r>
                      <a:endParaRPr lang="en-US"/>
                    </a:p>
                  </a:txBody>
                  <a:tcPr/>
                </a:tc>
              </a:tr>
              <a:tr h="9753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Fleksibilnost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/>
                    </a:p>
                    <a:p>
                      <a:pPr algn="ctr">
                        <a:buNone/>
                      </a:pPr>
                      <a:r>
                        <a:rPr lang="en-US" altLang="en-US"/>
                        <a:t>Ograni</a:t>
                      </a:r>
                      <a:r>
                        <a:rPr lang="en-US" altLang="en-US"/>
                        <a:t>č</a:t>
                      </a:r>
                      <a:r>
                        <a:rPr lang="en-US" altLang="en-US"/>
                        <a:t>ena, unapred definisana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Vrlo visoka</a:t>
                      </a:r>
                      <a:endParaRPr 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8731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Bezbednost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     Visoka, koristi parametre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   Rizik od injekcije</a:t>
                      </a:r>
                      <a:endParaRPr 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9029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Perfomanse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100"/>
                        <a:t>                 </a:t>
                      </a:r>
                      <a:r>
                        <a:rPr 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Brze izvrsavanje</a:t>
                      </a:r>
                      <a:endParaRPr 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Moze biti sporije</a:t>
                      </a:r>
                      <a:endParaRPr 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876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Odrzavanje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       Jednostavmnije</a:t>
                      </a:r>
                      <a:endParaRPr 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   </a:t>
                      </a:r>
                      <a:r>
                        <a:rPr 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  Komplikovanije</a:t>
                      </a:r>
                      <a:endParaRPr 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9753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Tipicne primene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Poslovne aplikacije,ERP sistemi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Analiticke platforme,izvestavanje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 flipH="1">
            <a:off x="9982200" y="2065338"/>
            <a:ext cx="2209800" cy="4792663"/>
          </a:xfrm>
          <a:custGeom>
            <a:avLst/>
            <a:gdLst>
              <a:gd name="connsiteX0" fmla="*/ 0 w 2209800"/>
              <a:gd name="connsiteY0" fmla="*/ 0 h 4792863"/>
              <a:gd name="connsiteX1" fmla="*/ 106223 w 2209800"/>
              <a:gd name="connsiteY1" fmla="*/ 6164 h 4792863"/>
              <a:gd name="connsiteX2" fmla="*/ 2209800 w 2209800"/>
              <a:gd name="connsiteY2" fmla="*/ 2684663 h 4792863"/>
              <a:gd name="connsiteX3" fmla="*/ 1452505 w 2209800"/>
              <a:gd name="connsiteY3" fmla="*/ 4666727 h 4792863"/>
              <a:gd name="connsiteX4" fmla="*/ 1321885 w 2209800"/>
              <a:gd name="connsiteY4" fmla="*/ 4792863 h 4792863"/>
              <a:gd name="connsiteX5" fmla="*/ 0 w 2209800"/>
              <a:gd name="connsiteY5" fmla="*/ 4792863 h 47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4792863">
                <a:moveTo>
                  <a:pt x="0" y="0"/>
                </a:moveTo>
                <a:lnTo>
                  <a:pt x="106223" y="6164"/>
                </a:lnTo>
                <a:cubicBezTo>
                  <a:pt x="1287771" y="144042"/>
                  <a:pt x="2209800" y="1290628"/>
                  <a:pt x="2209800" y="2684663"/>
                </a:cubicBezTo>
                <a:cubicBezTo>
                  <a:pt x="2209800" y="3468809"/>
                  <a:pt x="1918064" y="4174659"/>
                  <a:pt x="1452505" y="4666727"/>
                </a:cubicBezTo>
                <a:lnTo>
                  <a:pt x="1321885" y="4792863"/>
                </a:lnTo>
                <a:lnTo>
                  <a:pt x="0" y="4792863"/>
                </a:ln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7808913" y="0"/>
            <a:ext cx="1600200" cy="762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2033691">
            <a:off x="9542463" y="1358900"/>
            <a:ext cx="854075" cy="736600"/>
          </a:xfrm>
          <a:prstGeom prst="triangl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979150" y="928688"/>
            <a:ext cx="254000" cy="254000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3725" y="5983288"/>
            <a:ext cx="644525" cy="646113"/>
          </a:xfrm>
          <a:prstGeom prst="ellipse">
            <a:avLst/>
          </a:pr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26795" y="393700"/>
            <a:ext cx="678243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36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Zaključak i preporuke</a:t>
            </a:r>
            <a:endParaRPr lang="en-US" sz="36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26795" y="1282700"/>
            <a:ext cx="8382000" cy="3251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Aplikativni SQL nudi stabilnost i bezbednost, dok dinamički SQL pruža fleksibilnost. Preporuka je kombinovati oba pristupa: koristiti statičke upite gde je moguće, a dinamičke uz parametre i validaciju unosa</a:t>
            </a:r>
            <a:r>
              <a:rPr sz="2400">
                <a:ln w="15875"/>
                <a:gradFill>
                  <a:gsLst>
                    <a:gs pos="0">
                      <a:schemeClr val="accent1">
                        <a:lumOff val="-19993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3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.</a:t>
            </a:r>
            <a:endParaRPr sz="2400">
              <a:sym typeface="+mn-ea"/>
            </a:endParaRPr>
          </a:p>
          <a:p>
            <a:pPr marL="0" indent="0">
              <a:buNone/>
            </a:pPr>
            <a:endParaRPr sz="2400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b="1" u="sng">
              <a:ln w="15875"/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Literatura</a:t>
            </a:r>
            <a:endParaRPr 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1. Ben-Gan, I. — „T-SQL Fundamentals“ (Microsoft Press)</a:t>
            </a:r>
            <a:endParaRPr lang="en-US" altLang="en-US" sz="24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altLang="en-US" sz="24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 Itzik Ben-Gan, Dejan Sarka — „Inside Microsoft SQL Server: T-SQL Querying“</a:t>
            </a:r>
            <a:endParaRPr lang="en-US" altLang="en-US" sz="24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altLang="en-US" sz="24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3. Bill Karwin — „SQL Antipatterns“ (Pragmatic Bookshelf)</a:t>
            </a:r>
            <a:endParaRPr lang="en-US" altLang="en-US" sz="24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altLang="en-US" sz="24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4. Burleson, D. — „Advanced SQL Injection Prevention“</a:t>
            </a:r>
            <a:endParaRPr lang="en-US" altLang="en-US" sz="24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altLang="en-US" sz="24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5. Rob &amp; Coronel — „Database Systems: Design, Implementation, &amp; Management“</a:t>
            </a:r>
            <a:endParaRPr lang="en-US" altLang="en-US" sz="24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altLang="en-US" sz="24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6. Albahari, J. — „C# 9.0 in a Nutshell“ (poglavlja o ADO.NET i LINQ)</a:t>
            </a:r>
            <a:endParaRPr lang="en-US" altLang="en-US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7. Zvani</a:t>
            </a:r>
            <a:r>
              <a:rPr lang="en-US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č</a:t>
            </a:r>
            <a:r>
              <a:rPr lang="en-US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na Microsoft dokumentacija (docs.microsoft.com/sql)</a:t>
            </a:r>
            <a:endParaRPr lang="en-US" altLang="en-US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0" y="5805488"/>
            <a:ext cx="12192000" cy="10525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3794" name="文本框 6"/>
          <p:cNvSpPr txBox="1"/>
          <p:nvPr/>
        </p:nvSpPr>
        <p:spPr>
          <a:xfrm>
            <a:off x="4986338" y="2078038"/>
            <a:ext cx="6035675" cy="23069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7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Hvala na paznji</a:t>
            </a:r>
            <a:endParaRPr lang="en-US" altLang="zh-CN" sz="7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0" y="2528888"/>
            <a:ext cx="4078288" cy="4329113"/>
          </a:xfrm>
          <a:custGeom>
            <a:avLst/>
            <a:gdLst>
              <a:gd name="connsiteX0" fmla="*/ 744589 w 5012696"/>
              <a:gd name="connsiteY0" fmla="*/ 0 h 5320395"/>
              <a:gd name="connsiteX1" fmla="*/ 5012696 w 5012696"/>
              <a:gd name="connsiteY1" fmla="*/ 4268107 h 5320395"/>
              <a:gd name="connsiteX2" fmla="*/ 4925983 w 5012696"/>
              <a:gd name="connsiteY2" fmla="*/ 5128280 h 5320395"/>
              <a:gd name="connsiteX3" fmla="*/ 4876585 w 5012696"/>
              <a:gd name="connsiteY3" fmla="*/ 5320395 h 5320395"/>
              <a:gd name="connsiteX4" fmla="*/ 0 w 5012696"/>
              <a:gd name="connsiteY4" fmla="*/ 5320395 h 5320395"/>
              <a:gd name="connsiteX5" fmla="*/ 0 w 5012696"/>
              <a:gd name="connsiteY5" fmla="*/ 66072 h 5320395"/>
              <a:gd name="connsiteX6" fmla="*/ 94598 w 5012696"/>
              <a:gd name="connsiteY6" fmla="*/ 49178 h 5320395"/>
              <a:gd name="connsiteX7" fmla="*/ 744589 w 5012696"/>
              <a:gd name="connsiteY7" fmla="*/ 0 h 53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12696" h="5320395">
                <a:moveTo>
                  <a:pt x="744589" y="0"/>
                </a:moveTo>
                <a:cubicBezTo>
                  <a:pt x="3101799" y="0"/>
                  <a:pt x="5012696" y="1910897"/>
                  <a:pt x="5012696" y="4268107"/>
                </a:cubicBezTo>
                <a:cubicBezTo>
                  <a:pt x="5012696" y="4562759"/>
                  <a:pt x="4982838" y="4850436"/>
                  <a:pt x="4925983" y="5128280"/>
                </a:cubicBezTo>
                <a:lnTo>
                  <a:pt x="4876585" y="5320395"/>
                </a:lnTo>
                <a:lnTo>
                  <a:pt x="0" y="5320395"/>
                </a:lnTo>
                <a:lnTo>
                  <a:pt x="0" y="66072"/>
                </a:lnTo>
                <a:lnTo>
                  <a:pt x="94598" y="49178"/>
                </a:lnTo>
                <a:cubicBezTo>
                  <a:pt x="306535" y="16795"/>
                  <a:pt x="523601" y="0"/>
                  <a:pt x="744589" y="0"/>
                </a:cubicBezTo>
                <a:close/>
              </a:path>
            </a:pathLst>
          </a:custGeom>
          <a:solidFill>
            <a:srgbClr val="99C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533775" y="5011738"/>
            <a:ext cx="1089025" cy="1087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10850" y="730250"/>
            <a:ext cx="411163" cy="409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387138" y="1357313"/>
            <a:ext cx="258763" cy="2587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94*384"/>
  <p:tag name="TABLE_ENDDRAG_RECT" val="139*184*794*384"/>
</p:tagLst>
</file>

<file path=ppt/theme/theme1.xml><?xml version="1.0" encoding="utf-8"?>
<a:theme xmlns:a="http://schemas.openxmlformats.org/drawingml/2006/main" name="Office Theme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4875</Words>
  <Application>WPS Presentation</Application>
  <PresentationFormat/>
  <Paragraphs>152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等线</vt:lpstr>
      <vt:lpstr>Times New Roman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Ilustracija: komunikacija aplikacije i baze</vt:lpstr>
      <vt:lpstr>PowerPoint 演示文稿</vt:lpstr>
      <vt:lpstr>ŠTA JE APLIKATIVNI  SQL?</vt:lpstr>
      <vt:lpstr>KAKO FUNKCIONISE APLIKATIVNI SQL</vt:lpstr>
      <vt:lpstr>Šta je dinamički SQL?</vt:lpstr>
      <vt:lpstr>Izvršavanje dinamičkog SQL-a</vt:lpstr>
      <vt:lpstr>PowerPoint 演示文稿</vt:lpstr>
      <vt:lpstr>PowerPoint 演示文稿</vt:lpstr>
      <vt:lpstr>ORM (Object-Relational Mapping)</vt:lpstr>
      <vt:lpstr>PowerPoint 演示文稿</vt:lpstr>
      <vt:lpstr>PowerPoint 演示文稿</vt:lpstr>
      <vt:lpstr>PowerPoint 演示文稿</vt:lpstr>
      <vt:lpstr>PowerPoint 演示文稿</vt:lpstr>
      <vt:lpstr>Literatura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drcrn</cp:lastModifiedBy>
  <cp:revision>78</cp:revision>
  <dcterms:created xsi:type="dcterms:W3CDTF">2015-10-17T07:33:00Z</dcterms:created>
  <dcterms:modified xsi:type="dcterms:W3CDTF">2025-11-18T09:47:51Z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41EB5DD83FC845659748A9F47FF8EBF5_13</vt:lpwstr>
  </property>
</Properties>
</file>